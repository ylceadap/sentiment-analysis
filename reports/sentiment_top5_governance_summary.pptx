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821265625d45dd" /><Relationship Type="http://schemas.openxmlformats.org/officeDocument/2006/relationships/extended-properties" Target="/docProps/app.xml" Id="Ra4027e4c38934ee3" /><Relationship Type="http://schemas.openxmlformats.org/officeDocument/2006/relationships/officeDocument" Target="/ppt/presentation.xml" Id="Rea2c94baaa334d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6d9d60bee4468f"/>
  </p:sldMasterIdLst>
  <p:notesMasterIdLst>
    <p:notesMasterId xmlns:r="http://schemas.openxmlformats.org/officeDocument/2006/relationships" r:id="R3cb04f0d545d4bf7"/>
  </p:notesMasterIdLst>
  <p:sldIdLst>
    <p:sldId xmlns:r="http://schemas.openxmlformats.org/officeDocument/2006/relationships" id="256" r:id="R55d96a9f01554ec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983cd90bc648ac" /><Relationship Type="http://schemas.openxmlformats.org/officeDocument/2006/relationships/slideMaster" Target="/ppt/slideMasters/slideMaster1.xml" Id="R446d9d60bee4468f" /><Relationship Type="http://schemas.openxmlformats.org/officeDocument/2006/relationships/notesMaster" Target="/ppt/notesMasters/notesMaster1.xml" Id="R3cb04f0d545d4bf7" /><Relationship Type="http://schemas.openxmlformats.org/officeDocument/2006/relationships/presProps" Target="/ppt/presProps.xml" Id="R9f6373576d9341bc" /><Relationship Type="http://schemas.openxmlformats.org/officeDocument/2006/relationships/tableStyles" Target="/ppt/tableStyles.xml" Id="R797e1c32df0e409e" /><Relationship Type="http://schemas.openxmlformats.org/officeDocument/2006/relationships/slide" Target="/ppt/slides/slide1.xml" Id="R55d96a9f01554e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f6d72abaa14f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85084d55c84bce" /><Relationship Type="http://schemas.openxmlformats.org/officeDocument/2006/relationships/notesMaster" Target="/ppt/notesMasters/notesMaster1.xml" Id="R2dd76f471b3c43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977e5a75bb41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fdc4c992ad4986" /><Relationship Type="http://schemas.openxmlformats.org/officeDocument/2006/relationships/slideLayout" Target="/ppt/slideLayouts/slideLayout1.xml" Id="R78d5e0d8ffa94e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d5e0d8ffa94e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10086afef4eec" /><Relationship Type="http://schemas.openxmlformats.org/officeDocument/2006/relationships/chart" Target="/ppt/slides/charts/chart1.xml" Id="R6b0cb3e050fc4b01" /><Relationship Type="http://schemas.openxmlformats.org/officeDocument/2006/relationships/notesSlide" Target="/ppt/notesSlides/notesSlide1.xml" Id="Rcf24b5137029472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LLM API</c:v>
          </c:tx>
          <c:spPr>
            <a:solidFill xmlns:a="http://schemas.openxmlformats.org/drawingml/2006/main">
              <a:srgbClr val="E3A329"/>
            </a:solidFill>
          </c:spPr>
          <c:cat>
            <c:strLit>
              <c:ptCount val="3"/>
              <c:pt idx="0">
                <c:v>Macro-F1</c:v>
              </c:pt>
              <c:pt idx="1">
                <c:v>Accuracy</c:v>
              </c:pt>
              <c:pt idx="2">
                <c:v>Negative F1</c:v>
              </c:pt>
            </c:strLit>
          </c:cat>
          <c:val>
            <c:numLit>
              <c:formatCode>0.0</c:formatCode>
              <c:ptCount val="3"/>
              <c:pt idx="0">
                <c:v>75.1</c:v>
              </c:pt>
              <c:pt idx="1">
                <c:v>72.1</c:v>
              </c:pt>
              <c:pt idx="2">
                <c:v>84</c:v>
              </c:pt>
            </c:numLit>
          </c:val>
        </c:ser>
        <c:ser>
          <c:idx val="1"/>
          <c:order val="1"/>
          <c:tx>
            <c:v>Ordinal TF-IDF</c:v>
          </c:tx>
          <c:spPr>
            <a:solidFill xmlns:a="http://schemas.openxmlformats.org/drawingml/2006/main">
              <a:srgbClr val="2E7FF0"/>
            </a:solidFill>
          </c:spPr>
          <c:cat>
            <c:strLit>
              <c:ptCount val="3"/>
              <c:pt idx="0">
                <c:v>Macro-F1</c:v>
              </c:pt>
              <c:pt idx="1">
                <c:v>Accuracy</c:v>
              </c:pt>
              <c:pt idx="2">
                <c:v>Negative F1</c:v>
              </c:pt>
            </c:strLit>
          </c:cat>
          <c:val>
            <c:numLit>
              <c:formatCode>0.0</c:formatCode>
              <c:ptCount val="3"/>
              <c:pt idx="0">
                <c:v>64.2</c:v>
              </c:pt>
              <c:pt idx="1">
                <c:v>65</c:v>
              </c:pt>
              <c:pt idx="2">
                <c:v>62.2</c:v>
              </c:pt>
            </c:numLit>
          </c:val>
        </c:ser>
        <c:ser>
          <c:idx val="2"/>
          <c:order val="2"/>
          <c:tx>
            <c:v>Standard TF-IDF</c:v>
          </c:tx>
          <c:spPr>
            <a:solidFill xmlns:a="http://schemas.openxmlformats.org/drawingml/2006/main">
              <a:srgbClr val="AEB8C5"/>
            </a:solidFill>
          </c:spPr>
          <c:cat>
            <c:strLit>
              <c:ptCount val="3"/>
              <c:pt idx="0">
                <c:v>Macro-F1</c:v>
              </c:pt>
              <c:pt idx="1">
                <c:v>Accuracy</c:v>
              </c:pt>
              <c:pt idx="2">
                <c:v>Negative F1</c:v>
              </c:pt>
            </c:strLit>
          </c:cat>
          <c:val>
            <c:numLit>
              <c:formatCode>0.0</c:formatCode>
              <c:ptCount val="3"/>
              <c:pt idx="0">
                <c:v>63.8</c:v>
              </c:pt>
              <c:pt idx="1">
                <c:v>65.3</c:v>
              </c:pt>
              <c:pt idx="2">
                <c:v>60.2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0233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4465C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DF5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37083"/>
                </a:solidFill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34465C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headline">
            <a:extLst xmlns:a="http://schemas.openxmlformats.org/drawingml/2006/main">
              <a:ext uri="{FF2B5EF4-FFF2-40B4-BE49-F238E27FC236}">
                <a16:creationId xmlns:a16="http://schemas.microsoft.com/office/drawing/2014/main" id="{66AD760F-4E9C-4D13-B984-FEB800CE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7175"/>
            <a:ext cx="11353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t>Final held-out evidence, with the five leading model decisions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3304BB8-4273-4F9E-8E15-B429AAF8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857250"/>
            <a:ext cx="1095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7083"/>
                </a:solidFill>
                <a:latin typeface="Helvetica Neue"/>
                <a:ea typeface="Helvetica Neue"/>
                <a:cs typeface="Helvetica Neue"/>
              </a:defRPr>
            </a:pPr>
            <a:r>
              <a:t>FINAL TEST RESULTS ARE SHOWN ONLY IN THE CHART  ·  MLFLOW STATUS IS A SEPARATE DEPLOYMENT SIGNAL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E11321-F0DB-4CB5-9D7F-388EA2A0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33475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FF0"/>
          </a:solidFill>
        </p:spPr>
      </p:sp>
      <p:sp>
        <p:nvSpPr>
          <p:cNvPr id="4" name="chart-heading">
            <a:extLst xmlns:a="http://schemas.openxmlformats.org/drawingml/2006/main">
              <a:ext uri="{FF2B5EF4-FFF2-40B4-BE49-F238E27FC236}">
                <a16:creationId xmlns:a16="http://schemas.microsoft.com/office/drawing/2014/main" id="{E121C7F2-82C1-4942-9E4E-1161FA87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52550"/>
            <a:ext cx="552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t>FINAL HELD-OUT TEST (%)  ·  n=960</a:t>
            </a:r>
          </a:p>
        </p:txBody>
      </p:sp>
      <p:sp>
        <p:nvSpPr>
          <p:cNvPr id="5" name="table-heading">
            <a:extLst xmlns:a="http://schemas.openxmlformats.org/drawingml/2006/main">
              <a:ext uri="{FF2B5EF4-FFF2-40B4-BE49-F238E27FC236}">
                <a16:creationId xmlns:a16="http://schemas.microsoft.com/office/drawing/2014/main" id="{994BF409-CBF1-49CC-AF95-A7139166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733800"/>
            <a:ext cx="609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t>TOP 5 MODELS  ·  EVIDENCE + GOVERNANCE</a:t>
            </a:r>
          </a:p>
        </p:txBody>
      </p:sp>
      <p:sp>
        <p:nvSpPr>
          <p:cNvPr id="6" name="table-rule">
            <a:extLst xmlns:a="http://schemas.openxmlformats.org/drawingml/2006/main">
              <a:ext uri="{FF2B5EF4-FFF2-40B4-BE49-F238E27FC236}">
                <a16:creationId xmlns:a16="http://schemas.microsoft.com/office/drawing/2014/main" id="{763EB01F-A349-4BC9-928B-B71465B6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9624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DE544E55-EBBD-4466-83C1-8638E72A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03860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7083"/>
                </a:solidFill>
                <a:latin typeface="Helvetica Neue"/>
                <a:ea typeface="Helvetica Neue"/>
                <a:cs typeface="Helvetica Neue"/>
              </a:defRPr>
            </a:pPr>
            <a:r>
              <a:t>MODEL</a:t>
            </a:r>
          </a:p>
        </p:txBody>
      </p:sp>
      <p:sp>
        <p:nvSpPr>
          <p:cNvPr id="8" name="header-1">
            <a:extLst xmlns:a="http://schemas.openxmlformats.org/drawingml/2006/main">
              <a:ext uri="{FF2B5EF4-FFF2-40B4-BE49-F238E27FC236}">
                <a16:creationId xmlns:a16="http://schemas.microsoft.com/office/drawing/2014/main" id="{C5E13853-5B22-4F49-989F-5D4E340F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3860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7083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</a:t>
            </a:r>
          </a:p>
        </p:txBody>
      </p:sp>
      <p:sp>
        <p:nvSpPr>
          <p:cNvPr id="9" name="header-2">
            <a:extLst xmlns:a="http://schemas.openxmlformats.org/drawingml/2006/main">
              <a:ext uri="{FF2B5EF4-FFF2-40B4-BE49-F238E27FC236}">
                <a16:creationId xmlns:a16="http://schemas.microsoft.com/office/drawing/2014/main" id="{CAE06377-7F75-4136-9D79-E32DE01B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38600"/>
            <a:ext cx="13811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7083"/>
                </a:solidFill>
                <a:latin typeface="Helvetica Neue"/>
                <a:ea typeface="Helvetica Neue"/>
                <a:cs typeface="Helvetica Neue"/>
              </a:defRPr>
            </a:pPr>
            <a:r>
              <a:t>MACRO-F1 / ACC</a:t>
            </a:r>
          </a:p>
        </p:txBody>
      </p:sp>
      <p:sp>
        <p:nvSpPr>
          <p:cNvPr id="10" name="header-3">
            <a:extLst xmlns:a="http://schemas.openxmlformats.org/drawingml/2006/main">
              <a:ext uri="{FF2B5EF4-FFF2-40B4-BE49-F238E27FC236}">
                <a16:creationId xmlns:a16="http://schemas.microsoft.com/office/drawing/2014/main" id="{BD23108F-5F8D-4777-A144-8D153722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38600"/>
            <a:ext cx="17621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7083"/>
                </a:solidFill>
                <a:latin typeface="Helvetica Neue"/>
                <a:ea typeface="Helvetica Neue"/>
                <a:cs typeface="Helvetica Neue"/>
              </a:defRPr>
            </a:pPr>
            <a:r>
              <a:t>NEGATIVE P / R / F1</a:t>
            </a:r>
          </a:p>
        </p:txBody>
      </p:sp>
      <p:sp>
        <p:nvSpPr>
          <p:cNvPr id="11" name="header-4">
            <a:extLst xmlns:a="http://schemas.openxmlformats.org/drawingml/2006/main">
              <a:ext uri="{FF2B5EF4-FFF2-40B4-BE49-F238E27FC236}">
                <a16:creationId xmlns:a16="http://schemas.microsoft.com/office/drawing/2014/main" id="{F528A0D1-4992-4F03-9E50-FBD1BAEB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38600"/>
            <a:ext cx="428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7083"/>
                </a:solidFill>
                <a:latin typeface="Helvetica Neue"/>
                <a:ea typeface="Helvetica Neue"/>
                <a:cs typeface="Helvetica Neue"/>
              </a:defRPr>
            </a:pPr>
            <a:r>
              <a:t>MLFLOW REGISTRY / DECISION</a:t>
            </a:r>
          </a:p>
        </p:txBody>
      </p:sp>
      <p:sp>
        <p:nvSpPr>
          <p:cNvPr id="12" name="row-rule-0">
            <a:extLst xmlns:a="http://schemas.openxmlformats.org/drawingml/2006/main">
              <a:ext uri="{FF2B5EF4-FFF2-40B4-BE49-F238E27FC236}">
                <a16:creationId xmlns:a16="http://schemas.microsoft.com/office/drawing/2014/main" id="{B8E48B1D-0427-47D7-8431-8EBFA4EE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3053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5"/>
          </a:solidFill>
        </p:spPr>
      </p:sp>
      <p:sp>
        <p:nvSpPr>
          <p:cNvPr id="13" name="row-0-0">
            <a:extLst xmlns:a="http://schemas.openxmlformats.org/drawingml/2006/main">
              <a:ext uri="{FF2B5EF4-FFF2-40B4-BE49-F238E27FC236}">
                <a16:creationId xmlns:a16="http://schemas.microsoft.com/office/drawing/2014/main" id="{D70AD62B-DD22-477A-B147-1EF033F5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333875"/>
            <a:ext cx="1809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t>LLM API (24-shot)</a:t>
            </a:r>
          </a:p>
        </p:txBody>
      </p:sp>
      <p:sp>
        <p:nvSpPr>
          <p:cNvPr id="14" name="row-0-1">
            <a:extLst xmlns:a="http://schemas.openxmlformats.org/drawingml/2006/main">
              <a:ext uri="{FF2B5EF4-FFF2-40B4-BE49-F238E27FC236}">
                <a16:creationId xmlns:a16="http://schemas.microsoft.com/office/drawing/2014/main" id="{A1DE3F56-60B7-4F21-A108-A9C5B5D1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33875"/>
            <a:ext cx="1238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t>HELD-OUT*
n=960</a:t>
            </a:r>
          </a:p>
        </p:txBody>
      </p:sp>
      <p:sp>
        <p:nvSpPr>
          <p:cNvPr id="15" name="row-0-2">
            <a:extLst xmlns:a="http://schemas.openxmlformats.org/drawingml/2006/main">
              <a:ext uri="{FF2B5EF4-FFF2-40B4-BE49-F238E27FC236}">
                <a16:creationId xmlns:a16="http://schemas.microsoft.com/office/drawing/2014/main" id="{0817925F-1D52-43C8-B655-AD86966C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333875"/>
            <a:ext cx="138112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t>75.1 / 72.1</a:t>
            </a:r>
          </a:p>
        </p:txBody>
      </p:sp>
      <p:sp>
        <p:nvSpPr>
          <p:cNvPr id="16" name="row-0-3">
            <a:extLst xmlns:a="http://schemas.openxmlformats.org/drawingml/2006/main">
              <a:ext uri="{FF2B5EF4-FFF2-40B4-BE49-F238E27FC236}">
                <a16:creationId xmlns:a16="http://schemas.microsoft.com/office/drawing/2014/main" id="{4924186B-6E1B-4465-997E-B0381EB1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333875"/>
            <a:ext cx="176212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t>77.5 / 91.7 / 84.0</a:t>
            </a:r>
          </a:p>
        </p:txBody>
      </p:sp>
      <p:sp>
        <p:nvSpPr>
          <p:cNvPr id="17" name="row-0-4">
            <a:extLst xmlns:a="http://schemas.openxmlformats.org/drawingml/2006/main">
              <a:ext uri="{FF2B5EF4-FFF2-40B4-BE49-F238E27FC236}">
                <a16:creationId xmlns:a16="http://schemas.microsoft.com/office/drawing/2014/main" id="{2753C725-A335-4F94-8F5A-514552DB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333875"/>
            <a:ext cx="4286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465C"/>
                </a:solidFill>
                <a:latin typeface="Helvetica Neue"/>
                <a:ea typeface="Helvetica Neue"/>
                <a:cs typeface="Helvetica Neue"/>
              </a:defRPr>
            </a:pPr>
            <a:r>
              <a:t>Registered · external advisor
Use for maximum quality; external API constraints</a:t>
            </a:r>
          </a:p>
        </p:txBody>
      </p:sp>
      <p:sp>
        <p:nvSpPr>
          <p:cNvPr id="18" name="row-rule-1">
            <a:extLst xmlns:a="http://schemas.openxmlformats.org/drawingml/2006/main">
              <a:ext uri="{FF2B5EF4-FFF2-40B4-BE49-F238E27FC236}">
                <a16:creationId xmlns:a16="http://schemas.microsoft.com/office/drawing/2014/main" id="{A726802E-8C1F-40A8-81F6-A2F878BC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958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5"/>
          </a:solidFill>
        </p:spPr>
      </p:sp>
      <p:sp>
        <p:nvSpPr>
          <p:cNvPr id="19" name="row-1-0">
            <a:extLst xmlns:a="http://schemas.openxmlformats.org/drawingml/2006/main">
              <a:ext uri="{FF2B5EF4-FFF2-40B4-BE49-F238E27FC236}">
                <a16:creationId xmlns:a16="http://schemas.microsoft.com/office/drawing/2014/main" id="{CB464E86-272A-4F4B-94EC-7A72F3E3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24400"/>
            <a:ext cx="1809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t>Jina v3 + ordinal</a:t>
            </a:r>
          </a:p>
        </p:txBody>
      </p:sp>
      <p:sp>
        <p:nvSpPr>
          <p:cNvPr id="20" name="row-1-1">
            <a:extLst xmlns:a="http://schemas.openxmlformats.org/drawingml/2006/main">
              <a:ext uri="{FF2B5EF4-FFF2-40B4-BE49-F238E27FC236}">
                <a16:creationId xmlns:a16="http://schemas.microsoft.com/office/drawing/2014/main" id="{B6B55742-8C80-44BD-B1B9-35D61283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24400"/>
            <a:ext cx="1238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t>OOF ONLY
n=3,838</a:t>
            </a:r>
          </a:p>
        </p:txBody>
      </p:sp>
      <p:sp>
        <p:nvSpPr>
          <p:cNvPr id="21" name="row-1-2">
            <a:extLst xmlns:a="http://schemas.openxmlformats.org/drawingml/2006/main">
              <a:ext uri="{FF2B5EF4-FFF2-40B4-BE49-F238E27FC236}">
                <a16:creationId xmlns:a16="http://schemas.microsoft.com/office/drawing/2014/main" id="{1C47A82D-BCE7-4244-BCE4-72C834B6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724400"/>
            <a:ext cx="138112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t>73.0 / 70.8</a:t>
            </a:r>
          </a:p>
        </p:txBody>
      </p:sp>
      <p:sp>
        <p:nvSpPr>
          <p:cNvPr id="22" name="row-1-3">
            <a:extLst xmlns:a="http://schemas.openxmlformats.org/drawingml/2006/main">
              <a:ext uri="{FF2B5EF4-FFF2-40B4-BE49-F238E27FC236}">
                <a16:creationId xmlns:a16="http://schemas.microsoft.com/office/drawing/2014/main" id="{7A4B8E68-57E1-4299-B224-EE98C37B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724400"/>
            <a:ext cx="176212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t>80.9 / 75.8 / 78.3</a:t>
            </a:r>
          </a:p>
        </p:txBody>
      </p:sp>
      <p:sp>
        <p:nvSpPr>
          <p:cNvPr id="23" name="row-1-4">
            <a:extLst xmlns:a="http://schemas.openxmlformats.org/drawingml/2006/main">
              <a:ext uri="{FF2B5EF4-FFF2-40B4-BE49-F238E27FC236}">
                <a16:creationId xmlns:a16="http://schemas.microsoft.com/office/drawing/2014/main" id="{A5FD2691-4394-4D25-A86C-8FB1C9B2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24400"/>
            <a:ext cx="4286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465C"/>
                </a:solidFill>
                <a:latin typeface="Helvetica Neue"/>
                <a:ea typeface="Helvetica Neue"/>
                <a:cs typeface="Helvetica Neue"/>
              </a:defRPr>
            </a:pPr>
            <a:r>
              <a:t>Not registered · research-only
Run new blind test before any promotion</a:t>
            </a:r>
          </a:p>
        </p:txBody>
      </p:sp>
      <p:sp>
        <p:nvSpPr>
          <p:cNvPr id="24" name="row-rule-2">
            <a:extLst xmlns:a="http://schemas.openxmlformats.org/drawingml/2006/main">
              <a:ext uri="{FF2B5EF4-FFF2-40B4-BE49-F238E27FC236}">
                <a16:creationId xmlns:a16="http://schemas.microsoft.com/office/drawing/2014/main" id="{F873B557-12E7-42E0-AE64-61955549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086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5"/>
          </a:solidFill>
        </p:spPr>
      </p:sp>
      <p:sp>
        <p:nvSpPr>
          <p:cNvPr id="25" name="row-2-0">
            <a:extLst xmlns:a="http://schemas.openxmlformats.org/drawingml/2006/main">
              <a:ext uri="{FF2B5EF4-FFF2-40B4-BE49-F238E27FC236}">
                <a16:creationId xmlns:a16="http://schemas.microsoft.com/office/drawing/2014/main" id="{784983E9-C62D-46EF-9E38-2D341FA4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114925"/>
            <a:ext cx="1809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t>Jina v3 + multiclass</a:t>
            </a:r>
          </a:p>
        </p:txBody>
      </p:sp>
      <p:sp>
        <p:nvSpPr>
          <p:cNvPr id="26" name="row-2-1">
            <a:extLst xmlns:a="http://schemas.openxmlformats.org/drawingml/2006/main">
              <a:ext uri="{FF2B5EF4-FFF2-40B4-BE49-F238E27FC236}">
                <a16:creationId xmlns:a16="http://schemas.microsoft.com/office/drawing/2014/main" id="{89EA94E8-0368-4C28-A980-F4F073A1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14925"/>
            <a:ext cx="1238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t>OOF ONLY
n=3,838</a:t>
            </a:r>
          </a:p>
        </p:txBody>
      </p:sp>
      <p:sp>
        <p:nvSpPr>
          <p:cNvPr id="27" name="row-2-2">
            <a:extLst xmlns:a="http://schemas.openxmlformats.org/drawingml/2006/main">
              <a:ext uri="{FF2B5EF4-FFF2-40B4-BE49-F238E27FC236}">
                <a16:creationId xmlns:a16="http://schemas.microsoft.com/office/drawing/2014/main" id="{307DA3B5-A6DB-45C7-820D-85E0A199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114925"/>
            <a:ext cx="138112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t>71.1 / 70.2</a:t>
            </a:r>
          </a:p>
        </p:txBody>
      </p:sp>
      <p:sp>
        <p:nvSpPr>
          <p:cNvPr id="28" name="row-2-3">
            <a:extLst xmlns:a="http://schemas.openxmlformats.org/drawingml/2006/main">
              <a:ext uri="{FF2B5EF4-FFF2-40B4-BE49-F238E27FC236}">
                <a16:creationId xmlns:a16="http://schemas.microsoft.com/office/drawing/2014/main" id="{9B09C16A-4AB3-460B-86DF-523CA5FD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114925"/>
            <a:ext cx="176212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t>62.0 / 89.6 / 73.3</a:t>
            </a:r>
          </a:p>
        </p:txBody>
      </p:sp>
      <p:sp>
        <p:nvSpPr>
          <p:cNvPr id="29" name="row-2-4">
            <a:extLst xmlns:a="http://schemas.openxmlformats.org/drawingml/2006/main">
              <a:ext uri="{FF2B5EF4-FFF2-40B4-BE49-F238E27FC236}">
                <a16:creationId xmlns:a16="http://schemas.microsoft.com/office/drawing/2014/main" id="{EFE63DD5-2365-47D8-A54D-13864FCE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114925"/>
            <a:ext cx="4286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465C"/>
                </a:solidFill>
                <a:latin typeface="Helvetica Neue"/>
                <a:ea typeface="Helvetica Neue"/>
                <a:cs typeface="Helvetica Neue"/>
              </a:defRPr>
            </a:pPr>
            <a:r>
              <a:t>Not registered · research-only
Candidate, but weaker than Jina ordinal</a:t>
            </a:r>
          </a:p>
        </p:txBody>
      </p:sp>
      <p:sp>
        <p:nvSpPr>
          <p:cNvPr id="30" name="row-rule-3">
            <a:extLst xmlns:a="http://schemas.openxmlformats.org/drawingml/2006/main">
              <a:ext uri="{FF2B5EF4-FFF2-40B4-BE49-F238E27FC236}">
                <a16:creationId xmlns:a16="http://schemas.microsoft.com/office/drawing/2014/main" id="{5B60DD31-FDD3-467A-9678-84F14107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4768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5"/>
          </a:solidFill>
        </p:spPr>
      </p:sp>
      <p:sp>
        <p:nvSpPr>
          <p:cNvPr id="31" name="row-3-0">
            <a:extLst xmlns:a="http://schemas.openxmlformats.org/drawingml/2006/main">
              <a:ext uri="{FF2B5EF4-FFF2-40B4-BE49-F238E27FC236}">
                <a16:creationId xmlns:a16="http://schemas.microsoft.com/office/drawing/2014/main" id="{D9A924CA-8010-4038-858F-D5A42372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1809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t>Ordinal TF-IDF</a:t>
            </a:r>
          </a:p>
        </p:txBody>
      </p:sp>
      <p:sp>
        <p:nvSpPr>
          <p:cNvPr id="32" name="row-3-1">
            <a:extLst xmlns:a="http://schemas.openxmlformats.org/drawingml/2006/main">
              <a:ext uri="{FF2B5EF4-FFF2-40B4-BE49-F238E27FC236}">
                <a16:creationId xmlns:a16="http://schemas.microsoft.com/office/drawing/2014/main" id="{E3048518-B88B-4295-885A-340C6022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05450"/>
            <a:ext cx="1238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t>HELD-OUT
n=960</a:t>
            </a:r>
          </a:p>
        </p:txBody>
      </p:sp>
      <p:sp>
        <p:nvSpPr>
          <p:cNvPr id="33" name="row-3-2">
            <a:extLst xmlns:a="http://schemas.openxmlformats.org/drawingml/2006/main">
              <a:ext uri="{FF2B5EF4-FFF2-40B4-BE49-F238E27FC236}">
                <a16:creationId xmlns:a16="http://schemas.microsoft.com/office/drawing/2014/main" id="{12A2C253-4D40-45F0-B9AA-2D301699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505450"/>
            <a:ext cx="138112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t>64.2 / 65.0</a:t>
            </a:r>
          </a:p>
        </p:txBody>
      </p:sp>
      <p:sp>
        <p:nvSpPr>
          <p:cNvPr id="34" name="row-3-3">
            <a:extLst xmlns:a="http://schemas.openxmlformats.org/drawingml/2006/main">
              <a:ext uri="{FF2B5EF4-FFF2-40B4-BE49-F238E27FC236}">
                <a16:creationId xmlns:a16="http://schemas.microsoft.com/office/drawing/2014/main" id="{B84C1757-9BF2-49C2-8F87-92EF0BCA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505450"/>
            <a:ext cx="176212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t>62.7 / 61.7 / 62.2</a:t>
            </a:r>
          </a:p>
        </p:txBody>
      </p:sp>
      <p:sp>
        <p:nvSpPr>
          <p:cNvPr id="35" name="row-3-4">
            <a:extLst xmlns:a="http://schemas.openxmlformats.org/drawingml/2006/main">
              <a:ext uri="{FF2B5EF4-FFF2-40B4-BE49-F238E27FC236}">
                <a16:creationId xmlns:a16="http://schemas.microsoft.com/office/drawing/2014/main" id="{0F9F2BF8-2B9E-40D5-962E-F8002E8B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505450"/>
            <a:ext cx="4286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465C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 artifact · challenger
Best tested local upgrade; register after governance review</a:t>
            </a:r>
          </a:p>
        </p:txBody>
      </p:sp>
      <p:sp>
        <p:nvSpPr>
          <p:cNvPr id="36" name="row-rule-4">
            <a:extLst xmlns:a="http://schemas.openxmlformats.org/drawingml/2006/main">
              <a:ext uri="{FF2B5EF4-FFF2-40B4-BE49-F238E27FC236}">
                <a16:creationId xmlns:a16="http://schemas.microsoft.com/office/drawing/2014/main" id="{484797B9-5726-413F-A179-8B1F3A9C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674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5"/>
          </a:solidFill>
        </p:spPr>
      </p:sp>
      <p:sp>
        <p:nvSpPr>
          <p:cNvPr id="37" name="row-4-0">
            <a:extLst xmlns:a="http://schemas.openxmlformats.org/drawingml/2006/main">
              <a:ext uri="{FF2B5EF4-FFF2-40B4-BE49-F238E27FC236}">
                <a16:creationId xmlns:a16="http://schemas.microsoft.com/office/drawing/2014/main" id="{664A36EA-EF7F-485B-A27C-F7620AA8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95975"/>
            <a:ext cx="1809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t>Standard TF-IDF</a:t>
            </a:r>
          </a:p>
        </p:txBody>
      </p:sp>
      <p:sp>
        <p:nvSpPr>
          <p:cNvPr id="38" name="row-4-1">
            <a:extLst xmlns:a="http://schemas.openxmlformats.org/drawingml/2006/main">
              <a:ext uri="{FF2B5EF4-FFF2-40B4-BE49-F238E27FC236}">
                <a16:creationId xmlns:a16="http://schemas.microsoft.com/office/drawing/2014/main" id="{DD98B5D5-A50E-458D-8C01-E1741812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95975"/>
            <a:ext cx="1238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t>HELD-OUT
n=960</a:t>
            </a:r>
          </a:p>
        </p:txBody>
      </p:sp>
      <p:sp>
        <p:nvSpPr>
          <p:cNvPr id="39" name="row-4-2">
            <a:extLst xmlns:a="http://schemas.openxmlformats.org/drawingml/2006/main">
              <a:ext uri="{FF2B5EF4-FFF2-40B4-BE49-F238E27FC236}">
                <a16:creationId xmlns:a16="http://schemas.microsoft.com/office/drawing/2014/main" id="{C784E496-0F4C-452C-8FDE-41C99107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895975"/>
            <a:ext cx="138112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t>63.8 / 65.3</a:t>
            </a:r>
          </a:p>
        </p:txBody>
      </p:sp>
      <p:sp>
        <p:nvSpPr>
          <p:cNvPr id="40" name="row-4-3">
            <a:extLst xmlns:a="http://schemas.openxmlformats.org/drawingml/2006/main">
              <a:ext uri="{FF2B5EF4-FFF2-40B4-BE49-F238E27FC236}">
                <a16:creationId xmlns:a16="http://schemas.microsoft.com/office/drawing/2014/main" id="{6CD5CE29-1914-4E46-BD5D-A6B40BCB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895975"/>
            <a:ext cx="176212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t>72.1 / 51.7 / 60.2</a:t>
            </a:r>
          </a:p>
        </p:txBody>
      </p:sp>
      <p:sp>
        <p:nvSpPr>
          <p:cNvPr id="41" name="row-4-4">
            <a:extLst xmlns:a="http://schemas.openxmlformats.org/drawingml/2006/main">
              <a:ext uri="{FF2B5EF4-FFF2-40B4-BE49-F238E27FC236}">
                <a16:creationId xmlns:a16="http://schemas.microsoft.com/office/drawing/2014/main" id="{3AAB44B8-6419-431A-B394-327B3757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895975"/>
            <a:ext cx="4286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465C"/>
                </a:solidFill>
                <a:latin typeface="Helvetica Neue"/>
                <a:ea typeface="Helvetica Neue"/>
                <a:cs typeface="Helvetica Neue"/>
              </a:defRPr>
            </a:pPr>
            <a:r>
              <a:t>Registered · production champion
Current deployable local/API model</a:t>
            </a:r>
          </a:p>
        </p:txBody>
      </p:sp>
      <p:sp>
        <p:nvSpPr>
          <p:cNvPr id="42" name="decision">
            <a:extLst xmlns:a="http://schemas.openxmlformats.org/drawingml/2006/main">
              <a:ext uri="{FF2B5EF4-FFF2-40B4-BE49-F238E27FC236}">
                <a16:creationId xmlns:a16="http://schemas.microsoft.com/office/drawing/2014/main" id="{01206751-87B5-44F2-99D6-339F01FF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0858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t>BEST TESTED LOCAL UPGRADE: ORDINAL TF-IDF     •     CURRENT CHAMPION: STANDARD TF-IDF     •     QUALITY OPTION: LLM API</a:t>
            </a:r>
          </a:p>
        </p:txBody>
      </p:sp>
      <p:sp>
        <p:nvSpPr>
          <p:cNvPr id="43" name="source-note">
            <a:extLst xmlns:a="http://schemas.openxmlformats.org/drawingml/2006/main">
              <a:ext uri="{FF2B5EF4-FFF2-40B4-BE49-F238E27FC236}">
                <a16:creationId xmlns:a16="http://schemas.microsoft.com/office/drawing/2014/main" id="{9E40A408-CCC1-46BC-B1BE-1C419710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91300"/>
            <a:ext cx="11049000" cy="123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637083"/>
                </a:solidFill>
                <a:latin typeface="Helvetica Neue"/>
                <a:ea typeface="Helvetica Neue"/>
                <a:cs typeface="Helvetica Neue"/>
              </a:defRPr>
            </a:pPr>
            <a:r>
              <a:t>*LLM score uses the registered reused-held-out evaluation. OOF-only candidates need a separate blind test; metric order is Macro-F1 / Accuracy and Negative precision / recall / F1.</a:t>
            </a:r>
          </a:p>
        </p:txBody>
      </p:sp>
      <p:graphicFrame>
        <p:nvGraphicFramePr>
          <p:cNvPr id="88" name="Chart"/>
          <p:cNvGraphicFramePr/>
          <p:nvPr/>
        </p:nvGraphicFramePr>
        <p:xfrm>
          <a:off xmlns:a="http://schemas.openxmlformats.org/drawingml/2006/main" x="428625" y="1685925"/>
          <a:ext xmlns:a="http://schemas.openxmlformats.org/drawingml/2006/main" cx="11049000" cy="18383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0cb3e050fc4b01"/>
          </a:graphicData>
        </a:graphic>
      </p:graphicFrame>
    </p:spTree>
    <p:extLst>
      <p:ext uri="{BB962C8B-B14F-4D97-AF65-F5344CB8AC3E}">
        <p14:creationId xmlns:p14="http://schemas.microsoft.com/office/powerpoint/2010/main" val="14120817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2026-07-18T21:17:25.3240000Z</dcterms:created>
  <dcterms:modified xsi:type="dcterms:W3CDTF">2026-07-18T21:17:25.3240000Z</dcterms:modified>
</coreProperties>
</file>