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e373646617437d" /><Relationship Type="http://schemas.openxmlformats.org/officeDocument/2006/relationships/extended-properties" Target="/docProps/app.xml" Id="R7fd2947e3eaa4ce1" /><Relationship Type="http://schemas.openxmlformats.org/officeDocument/2006/relationships/officeDocument" Target="/ppt/presentation.xml" Id="Re6208d5181b745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4a6f7fd68443f9"/>
  </p:sldMasterIdLst>
  <p:notesMasterIdLst>
    <p:notesMasterId xmlns:r="http://schemas.openxmlformats.org/officeDocument/2006/relationships" r:id="R52851a16e28a45e6"/>
  </p:notesMasterIdLst>
  <p:sldIdLst>
    <p:sldId xmlns:r="http://schemas.openxmlformats.org/officeDocument/2006/relationships" id="256" r:id="R315a5e2868324dc7"/>
  </p:sldIdLst>
  <p:sldSz cx="10692000" cy="7560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6c432edcb436a" /><Relationship Type="http://schemas.openxmlformats.org/officeDocument/2006/relationships/slideMaster" Target="/ppt/slideMasters/slideMaster1.xml" Id="Rf94a6f7fd68443f9" /><Relationship Type="http://schemas.openxmlformats.org/officeDocument/2006/relationships/notesMaster" Target="/ppt/notesMasters/notesMaster1.xml" Id="R52851a16e28a45e6" /><Relationship Type="http://schemas.openxmlformats.org/officeDocument/2006/relationships/presProps" Target="/ppt/presProps.xml" Id="R03370717479e4869" /><Relationship Type="http://schemas.openxmlformats.org/officeDocument/2006/relationships/tableStyles" Target="/ppt/tableStyles.xml" Id="R6f778b06296a4107" /><Relationship Type="http://schemas.openxmlformats.org/officeDocument/2006/relationships/slide" Target="/ppt/slides/slide1.xml" Id="R315a5e2868324d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0501bc046948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d0b05de0694aff" /><Relationship Type="http://schemas.openxmlformats.org/officeDocument/2006/relationships/notesMaster" Target="/ppt/notesMasters/notesMaster1.xml" Id="Re4d50b9ce31b40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2bccf79f940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9182f5fa294a5b" /><Relationship Type="http://schemas.openxmlformats.org/officeDocument/2006/relationships/slideLayout" Target="/ppt/slideLayouts/slideLayout1.xml" Id="R35a67e1d50d3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a67e1d50d3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70a0cb1404d73" /><Relationship Type="http://schemas.openxmlformats.org/officeDocument/2006/relationships/chart" Target="/ppt/slides/charts/chart1.xml" Id="Refa19b42a3e14660" /><Relationship Type="http://schemas.openxmlformats.org/officeDocument/2006/relationships/notesSlide" Target="/ppt/notesSlides/notesSlide1.xml" Id="R561603b08531435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30024"/>
                </a:solidFill>
              </a:rPr>
              <a:t>Seven models · Macro-F1 (%)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30024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Macro-F1</c:v>
          </c:tx>
          <c:spPr>
            <a:solidFill xmlns:a="http://schemas.openxmlformats.org/drawingml/2006/main">
              <a:srgbClr val="540057"/>
            </a:solidFill>
          </c:spPr>
          <c:cat>
            <c:strLit>
              <c:ptCount val="7"/>
              <c:pt idx="0">
                <c:v>RobBERT v2 Logistic</c:v>
              </c:pt>
              <c:pt idx="1">
                <c:v>TF-IDF Logistic (benchmark)</c:v>
              </c:pt>
              <c:pt idx="2">
                <c:v>TF-IDF Ordinal</c:v>
              </c:pt>
              <c:pt idx="3">
                <c:v>RobBERT Improved Ensemble</c:v>
              </c:pt>
              <c:pt idx="4">
                <c:v>Jina Logistic</c:v>
              </c:pt>
              <c:pt idx="5">
                <c:v>Jina Ordinal</c:v>
              </c:pt>
              <c:pt idx="6">
                <c:v>LLM few-shot</c:v>
              </c:pt>
            </c:strLit>
          </c:cat>
          <c:val>
            <c:numLit>
              <c:formatCode>0.00</c:formatCode>
              <c:ptCount val="7"/>
              <c:pt idx="0">
                <c:v>62.52</c:v>
              </c:pt>
              <c:pt idx="1">
                <c:v>63.79</c:v>
              </c:pt>
              <c:pt idx="2">
                <c:v>64.06</c:v>
              </c:pt>
              <c:pt idx="3">
                <c:v>66.15</c:v>
              </c:pt>
              <c:pt idx="4">
                <c:v>67.15</c:v>
              </c:pt>
              <c:pt idx="5">
                <c:v>71.04</c:v>
              </c:pt>
              <c:pt idx="6">
                <c:v>75.06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23002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EEE6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3002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EE6EE"/>
              </a:solidFill>
              <a:prstDash val="solid"/>
            </a:ln>
          </c:spPr>
        </c:majorGridlines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EEE6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4B60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headline">
            <a:extLst xmlns:a="http://schemas.openxmlformats.org/drawingml/2006/main">
              <a:ext uri="{FF2B5EF4-FFF2-40B4-BE49-F238E27FC236}">
                <a16:creationId xmlns:a16="http://schemas.microsoft.com/office/drawing/2014/main" id="{66AD760F-4E9C-4D13-B984-FEB800CE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38" y="285750"/>
            <a:ext cx="99569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Dutch Sentiment Classification — Experiment Summary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304BB8-4273-4F9E-8E15-B429AAF8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914400"/>
            <a:ext cx="9606094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4B60"/>
                </a:solidFill>
                <a:latin typeface="Arial"/>
                <a:ea typeface="Arial"/>
                <a:cs typeface="Arial"/>
              </a:rPr>
              <a:t>LLM leads overall; Jina Ordinal leads research; TF-IDF remains deployable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E11321-F0DB-4CB5-9D7F-388EA2A0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1190625"/>
            <a:ext cx="61813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0057"/>
          </a:solidFill>
        </p:spPr>
      </p:sp>
      <p:sp>
        <p:nvSpPr>
          <p:cNvPr id="4" name="chart-heading">
            <a:extLst xmlns:a="http://schemas.openxmlformats.org/drawingml/2006/main">
              <a:ext uri="{FF2B5EF4-FFF2-40B4-BE49-F238E27FC236}">
                <a16:creationId xmlns:a16="http://schemas.microsoft.com/office/drawing/2014/main" id="{E121C7F2-82C1-4942-9E4E-1161FA87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1504950"/>
            <a:ext cx="8353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F4B60"/>
                </a:solidFill>
                <a:latin typeface="Arial"/>
                <a:ea typeface="Arial"/>
                <a:cs typeface="Arial"/>
              </a:rPr>
              <a:t>4,800 raw → audit + dedupe → 3,838 train samples + 960 test samples</a:t>
            </a:r>
          </a:p>
        </p:txBody>
      </p:sp>
      <p:sp>
        <p:nvSpPr>
          <p:cNvPr id="5" name="table-heading">
            <a:extLst xmlns:a="http://schemas.openxmlformats.org/drawingml/2006/main">
              <a:ext uri="{FF2B5EF4-FFF2-40B4-BE49-F238E27FC236}">
                <a16:creationId xmlns:a16="http://schemas.microsoft.com/office/drawing/2014/main" id="{994BF409-CBF1-49CC-AF95-A7139166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4210050"/>
            <a:ext cx="534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OPERATING METRICS + MODEL GOVERNANCE</a:t>
            </a:r>
          </a:p>
        </p:txBody>
      </p:sp>
      <p:sp>
        <p:nvSpPr>
          <p:cNvPr id="6" name="table-rule">
            <a:extLst xmlns:a="http://schemas.openxmlformats.org/drawingml/2006/main">
              <a:ext uri="{FF2B5EF4-FFF2-40B4-BE49-F238E27FC236}">
                <a16:creationId xmlns:a16="http://schemas.microsoft.com/office/drawing/2014/main" id="{763EB01F-A349-4BC9-928B-B71465B6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4495800"/>
            <a:ext cx="968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>
            <a:solidFill>
              <a:srgbClr val="EEE6EE"/>
            </a:solidFill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DE544E55-EBBD-4466-83C1-8638E72A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4572000"/>
            <a:ext cx="1712391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4B6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header-1">
            <a:extLst xmlns:a="http://schemas.openxmlformats.org/drawingml/2006/main">
              <a:ext uri="{FF2B5EF4-FFF2-40B4-BE49-F238E27FC236}">
                <a16:creationId xmlns:a16="http://schemas.microsoft.com/office/drawing/2014/main" id="{C5E13853-5B22-4F49-989F-5D4E340F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13" y="4572000"/>
            <a:ext cx="1002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4B60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9" name="header-2">
            <a:extLst xmlns:a="http://schemas.openxmlformats.org/drawingml/2006/main">
              <a:ext uri="{FF2B5EF4-FFF2-40B4-BE49-F238E27FC236}">
                <a16:creationId xmlns:a16="http://schemas.microsoft.com/office/drawing/2014/main" id="{CAE06377-7F75-4136-9D79-E32DE01B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84" y="4572000"/>
            <a:ext cx="1211203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4B60"/>
                </a:solidFill>
                <a:latin typeface="Arial"/>
                <a:ea typeface="Arial"/>
                <a:cs typeface="Arial"/>
              </a:rPr>
              <a:t>NEGATIVE P / R (n=60)</a:t>
            </a:r>
          </a:p>
        </p:txBody>
      </p:sp>
      <p:sp>
        <p:nvSpPr>
          <p:cNvPr id="10" name="header-3">
            <a:extLst xmlns:a="http://schemas.openxmlformats.org/drawingml/2006/main">
              <a:ext uri="{FF2B5EF4-FFF2-40B4-BE49-F238E27FC236}">
                <a16:creationId xmlns:a16="http://schemas.microsoft.com/office/drawing/2014/main" id="{BD23108F-5F8D-4777-A144-8D153722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84" y="4572000"/>
            <a:ext cx="1545328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4B60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1" name="header-4">
            <a:extLst xmlns:a="http://schemas.openxmlformats.org/drawingml/2006/main">
              <a:ext uri="{FF2B5EF4-FFF2-40B4-BE49-F238E27FC236}">
                <a16:creationId xmlns:a16="http://schemas.microsoft.com/office/drawing/2014/main" id="{F528A0D1-4992-4F03-9E50-FBD1BAEB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609" y="4572000"/>
            <a:ext cx="3758906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370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4B60"/>
                </a:solidFill>
                <a:latin typeface="Arial"/>
                <a:ea typeface="Arial"/>
                <a:cs typeface="Arial"/>
              </a:rPr>
              <a:t>DECISION / CONSTRAINT</a:t>
            </a:r>
          </a:p>
        </p:txBody>
      </p:sp>
      <p:sp>
        <p:nvSpPr>
          <p:cNvPr id="12" name="row-rule-0">
            <a:extLst xmlns:a="http://schemas.openxmlformats.org/drawingml/2006/main">
              <a:ext uri="{FF2B5EF4-FFF2-40B4-BE49-F238E27FC236}">
                <a16:creationId xmlns:a16="http://schemas.microsoft.com/office/drawing/2014/main" id="{B8E48B1D-0427-47D7-8431-8EBFA4EE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4829175"/>
            <a:ext cx="968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>
            <a:solidFill>
              <a:srgbClr val="EEE6EE"/>
            </a:solidFill>
          </a:ln>
        </p:spPr>
      </p:sp>
      <p:sp>
        <p:nvSpPr>
          <p:cNvPr id="13" name="row-0-0">
            <a:extLst xmlns:a="http://schemas.openxmlformats.org/drawingml/2006/main">
              <a:ext uri="{FF2B5EF4-FFF2-40B4-BE49-F238E27FC236}">
                <a16:creationId xmlns:a16="http://schemas.microsoft.com/office/drawing/2014/main" id="{D70AD62B-DD22-477A-B147-1EF033F5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4857750"/>
            <a:ext cx="1712391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LLM few-shot (24-shot)</a:t>
            </a:r>
          </a:p>
        </p:txBody>
      </p:sp>
      <p:sp>
        <p:nvSpPr>
          <p:cNvPr id="14" name="row-0-1">
            <a:extLst xmlns:a="http://schemas.openxmlformats.org/drawingml/2006/main">
              <a:ext uri="{FF2B5EF4-FFF2-40B4-BE49-F238E27FC236}">
                <a16:creationId xmlns:a16="http://schemas.microsoft.com/office/drawing/2014/main" id="{A1DE3F56-60B7-4F21-A108-A9C5B5D1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13" y="4857750"/>
            <a:ext cx="10023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72.08%</a:t>
            </a:r>
          </a:p>
        </p:txBody>
      </p:sp>
      <p:sp>
        <p:nvSpPr>
          <p:cNvPr id="15" name="row-0-2">
            <a:extLst xmlns:a="http://schemas.openxmlformats.org/drawingml/2006/main">
              <a:ext uri="{FF2B5EF4-FFF2-40B4-BE49-F238E27FC236}">
                <a16:creationId xmlns:a16="http://schemas.microsoft.com/office/drawing/2014/main" id="{0817925F-1D52-43C8-B655-AD86966C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84" y="4857750"/>
            <a:ext cx="1211203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77.46% / 91.67%</a:t>
            </a:r>
          </a:p>
        </p:txBody>
      </p:sp>
      <p:sp>
        <p:nvSpPr>
          <p:cNvPr id="16" name="row-0-3">
            <a:extLst xmlns:a="http://schemas.openxmlformats.org/drawingml/2006/main">
              <a:ext uri="{FF2B5EF4-FFF2-40B4-BE49-F238E27FC236}">
                <a16:creationId xmlns:a16="http://schemas.microsoft.com/office/drawing/2014/main" id="{4924186B-6E1B-4465-997E-B0381EB1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84" y="4857750"/>
            <a:ext cx="1545328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External advisor</a:t>
            </a:r>
          </a:p>
        </p:txBody>
      </p:sp>
      <p:sp>
        <p:nvSpPr>
          <p:cNvPr id="17" name="row-0-4">
            <a:extLst xmlns:a="http://schemas.openxmlformats.org/drawingml/2006/main">
              <a:ext uri="{FF2B5EF4-FFF2-40B4-BE49-F238E27FC236}">
                <a16:creationId xmlns:a16="http://schemas.microsoft.com/office/drawing/2014/main" id="{2753C725-A335-4F94-8F5A-514552DB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609" y="4857750"/>
            <a:ext cx="3758906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Quality leader · external API</a:t>
            </a:r>
          </a:p>
        </p:txBody>
      </p:sp>
      <p:sp>
        <p:nvSpPr>
          <p:cNvPr id="18" name="row-rule-1">
            <a:extLst xmlns:a="http://schemas.openxmlformats.org/drawingml/2006/main">
              <a:ext uri="{FF2B5EF4-FFF2-40B4-BE49-F238E27FC236}">
                <a16:creationId xmlns:a16="http://schemas.microsoft.com/office/drawing/2014/main" id="{A726802E-8C1F-40A8-81F6-A2F878BC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5110163"/>
            <a:ext cx="968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>
            <a:solidFill>
              <a:srgbClr val="EEE6EE"/>
            </a:solidFill>
          </a:ln>
        </p:spPr>
      </p:sp>
      <p:sp>
        <p:nvSpPr>
          <p:cNvPr id="19" name="row-1-0">
            <a:extLst xmlns:a="http://schemas.openxmlformats.org/drawingml/2006/main">
              <a:ext uri="{FF2B5EF4-FFF2-40B4-BE49-F238E27FC236}">
                <a16:creationId xmlns:a16="http://schemas.microsoft.com/office/drawing/2014/main" id="{CB464E86-272A-4F4B-94EC-7A72F3E3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5138738"/>
            <a:ext cx="1712391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Jina Ordinal</a:t>
            </a:r>
          </a:p>
        </p:txBody>
      </p:sp>
      <p:sp>
        <p:nvSpPr>
          <p:cNvPr id="20" name="row-1-1">
            <a:extLst xmlns:a="http://schemas.openxmlformats.org/drawingml/2006/main">
              <a:ext uri="{FF2B5EF4-FFF2-40B4-BE49-F238E27FC236}">
                <a16:creationId xmlns:a16="http://schemas.microsoft.com/office/drawing/2014/main" id="{B6B55742-8C80-44BD-B1B9-35D61283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13" y="5138738"/>
            <a:ext cx="10023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68.96%</a:t>
            </a:r>
          </a:p>
        </p:txBody>
      </p:sp>
      <p:sp>
        <p:nvSpPr>
          <p:cNvPr id="21" name="row-1-2">
            <a:extLst xmlns:a="http://schemas.openxmlformats.org/drawingml/2006/main">
              <a:ext uri="{FF2B5EF4-FFF2-40B4-BE49-F238E27FC236}">
                <a16:creationId xmlns:a16="http://schemas.microsoft.com/office/drawing/2014/main" id="{1C47A82D-BCE7-4244-BCE4-72C834B6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84" y="5138738"/>
            <a:ext cx="1211203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72.73% / 80.00%</a:t>
            </a:r>
          </a:p>
        </p:txBody>
      </p:sp>
      <p:sp>
        <p:nvSpPr>
          <p:cNvPr id="22" name="row-1-3">
            <a:extLst xmlns:a="http://schemas.openxmlformats.org/drawingml/2006/main">
              <a:ext uri="{FF2B5EF4-FFF2-40B4-BE49-F238E27FC236}">
                <a16:creationId xmlns:a16="http://schemas.microsoft.com/office/drawing/2014/main" id="{7A4B8E68-57E1-4299-B224-EE98C37B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84" y="5138738"/>
            <a:ext cx="1545328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Research only</a:t>
            </a:r>
          </a:p>
        </p:txBody>
      </p:sp>
      <p:sp>
        <p:nvSpPr>
          <p:cNvPr id="23" name="row-1-4">
            <a:extLst xmlns:a="http://schemas.openxmlformats.org/drawingml/2006/main">
              <a:ext uri="{FF2B5EF4-FFF2-40B4-BE49-F238E27FC236}">
                <a16:creationId xmlns:a16="http://schemas.microsoft.com/office/drawing/2014/main" id="{A5FD2691-4394-4D25-A86C-8FB1C9B2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609" y="5138738"/>
            <a:ext cx="3758906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Best research score · non-commercial</a:t>
            </a:r>
          </a:p>
        </p:txBody>
      </p:sp>
      <p:sp>
        <p:nvSpPr>
          <p:cNvPr id="24" name="row-rule-2">
            <a:extLst xmlns:a="http://schemas.openxmlformats.org/drawingml/2006/main">
              <a:ext uri="{FF2B5EF4-FFF2-40B4-BE49-F238E27FC236}">
                <a16:creationId xmlns:a16="http://schemas.microsoft.com/office/drawing/2014/main" id="{F873B557-12E7-42E0-AE64-6195554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5391150"/>
            <a:ext cx="968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>
            <a:solidFill>
              <a:srgbClr val="EEE6EE"/>
            </a:solidFill>
          </a:ln>
        </p:spPr>
      </p:sp>
      <p:sp>
        <p:nvSpPr>
          <p:cNvPr id="25" name="row-2-0">
            <a:extLst xmlns:a="http://schemas.openxmlformats.org/drawingml/2006/main">
              <a:ext uri="{FF2B5EF4-FFF2-40B4-BE49-F238E27FC236}">
                <a16:creationId xmlns:a16="http://schemas.microsoft.com/office/drawing/2014/main" id="{784983E9-C62D-46EF-9E38-2D341FA4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5419725"/>
            <a:ext cx="1712391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Jina Logistic</a:t>
            </a:r>
          </a:p>
        </p:txBody>
      </p:sp>
      <p:sp>
        <p:nvSpPr>
          <p:cNvPr id="26" name="row-2-1">
            <a:extLst xmlns:a="http://schemas.openxmlformats.org/drawingml/2006/main">
              <a:ext uri="{FF2B5EF4-FFF2-40B4-BE49-F238E27FC236}">
                <a16:creationId xmlns:a16="http://schemas.microsoft.com/office/drawing/2014/main" id="{89EA94E8-0368-4C28-A980-F4F073A1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13" y="5419725"/>
            <a:ext cx="10023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67.19%</a:t>
            </a:r>
          </a:p>
        </p:txBody>
      </p:sp>
      <p:sp>
        <p:nvSpPr>
          <p:cNvPr id="27" name="row-2-2">
            <a:extLst xmlns:a="http://schemas.openxmlformats.org/drawingml/2006/main">
              <a:ext uri="{FF2B5EF4-FFF2-40B4-BE49-F238E27FC236}">
                <a16:creationId xmlns:a16="http://schemas.microsoft.com/office/drawing/2014/main" id="{307DA3B5-A6DB-45C7-820D-85E0A199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84" y="5419725"/>
            <a:ext cx="1211203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54.08% / 88.33%</a:t>
            </a:r>
          </a:p>
        </p:txBody>
      </p:sp>
      <p:sp>
        <p:nvSpPr>
          <p:cNvPr id="28" name="row-2-3">
            <a:extLst xmlns:a="http://schemas.openxmlformats.org/drawingml/2006/main">
              <a:ext uri="{FF2B5EF4-FFF2-40B4-BE49-F238E27FC236}">
                <a16:creationId xmlns:a16="http://schemas.microsoft.com/office/drawing/2014/main" id="{9B09C16A-4AB3-460B-86DF-523CA5FD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84" y="5419725"/>
            <a:ext cx="1545328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Research only</a:t>
            </a:r>
          </a:p>
        </p:txBody>
      </p:sp>
      <p:sp>
        <p:nvSpPr>
          <p:cNvPr id="29" name="row-2-4">
            <a:extLst xmlns:a="http://schemas.openxmlformats.org/drawingml/2006/main">
              <a:ext uri="{FF2B5EF4-FFF2-40B4-BE49-F238E27FC236}">
                <a16:creationId xmlns:a16="http://schemas.microsoft.com/office/drawing/2014/main" id="{EFE63DD5-2365-47D8-A54D-13864FCE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609" y="5419725"/>
            <a:ext cx="3758906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Frozen encoder + trained head</a:t>
            </a:r>
          </a:p>
        </p:txBody>
      </p:sp>
      <p:sp>
        <p:nvSpPr>
          <p:cNvPr id="30" name="row-rule-3">
            <a:extLst xmlns:a="http://schemas.openxmlformats.org/drawingml/2006/main">
              <a:ext uri="{FF2B5EF4-FFF2-40B4-BE49-F238E27FC236}">
                <a16:creationId xmlns:a16="http://schemas.microsoft.com/office/drawing/2014/main" id="{5B60DD31-FDD3-467A-9678-84F14107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5672138"/>
            <a:ext cx="968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>
            <a:solidFill>
              <a:srgbClr val="EEE6EE"/>
            </a:solidFill>
          </a:ln>
        </p:spPr>
      </p:sp>
      <p:sp>
        <p:nvSpPr>
          <p:cNvPr id="31" name="row-3-0">
            <a:extLst xmlns:a="http://schemas.openxmlformats.org/drawingml/2006/main">
              <a:ext uri="{FF2B5EF4-FFF2-40B4-BE49-F238E27FC236}">
                <a16:creationId xmlns:a16="http://schemas.microsoft.com/office/drawing/2014/main" id="{D9A924CA-8010-4038-858F-D5A42372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5700713"/>
            <a:ext cx="1712391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RobBERT Improved Ensemble</a:t>
            </a:r>
          </a:p>
        </p:txBody>
      </p:sp>
      <p:sp>
        <p:nvSpPr>
          <p:cNvPr id="32" name="row-3-1">
            <a:extLst xmlns:a="http://schemas.openxmlformats.org/drawingml/2006/main">
              <a:ext uri="{FF2B5EF4-FFF2-40B4-BE49-F238E27FC236}">
                <a16:creationId xmlns:a16="http://schemas.microsoft.com/office/drawing/2014/main" id="{E3048518-B88B-4295-885A-340C602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13" y="5700713"/>
            <a:ext cx="10023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67.71%</a:t>
            </a:r>
          </a:p>
        </p:txBody>
      </p:sp>
      <p:sp>
        <p:nvSpPr>
          <p:cNvPr id="33" name="row-3-2">
            <a:extLst xmlns:a="http://schemas.openxmlformats.org/drawingml/2006/main">
              <a:ext uri="{FF2B5EF4-FFF2-40B4-BE49-F238E27FC236}">
                <a16:creationId xmlns:a16="http://schemas.microsoft.com/office/drawing/2014/main" id="{12A2C253-4D40-45F0-B9AA-2D30169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84" y="5700713"/>
            <a:ext cx="1211203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69.39% / 56.67%</a:t>
            </a:r>
          </a:p>
        </p:txBody>
      </p:sp>
      <p:sp>
        <p:nvSpPr>
          <p:cNvPr id="34" name="row-3-3">
            <a:extLst xmlns:a="http://schemas.openxmlformats.org/drawingml/2006/main">
              <a:ext uri="{FF2B5EF4-FFF2-40B4-BE49-F238E27FC236}">
                <a16:creationId xmlns:a16="http://schemas.microsoft.com/office/drawing/2014/main" id="{B84C1757-9BF2-49C2-8F87-92EF0BCA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84" y="5700713"/>
            <a:ext cx="1545328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Challenger</a:t>
            </a:r>
          </a:p>
        </p:txBody>
      </p:sp>
      <p:sp>
        <p:nvSpPr>
          <p:cNvPr id="35" name="row-3-4">
            <a:extLst xmlns:a="http://schemas.openxmlformats.org/drawingml/2006/main">
              <a:ext uri="{FF2B5EF4-FFF2-40B4-BE49-F238E27FC236}">
                <a16:creationId xmlns:a16="http://schemas.microsoft.com/office/drawing/2014/main" id="{0F9F2BF8-2B9E-40D5-962E-F8002E8B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609" y="5700713"/>
            <a:ext cx="3758906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Best RobBERT · Drive weights</a:t>
            </a:r>
          </a:p>
        </p:txBody>
      </p:sp>
      <p:sp>
        <p:nvSpPr>
          <p:cNvPr id="36" name="row-rule-4">
            <a:extLst xmlns:a="http://schemas.openxmlformats.org/drawingml/2006/main">
              <a:ext uri="{FF2B5EF4-FFF2-40B4-BE49-F238E27FC236}">
                <a16:creationId xmlns:a16="http://schemas.microsoft.com/office/drawing/2014/main" id="{484797B9-5726-413F-A179-8B1F3A9C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5953125"/>
            <a:ext cx="968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5"/>
          </a:solidFill>
          <a:ln xmlns:a="http://schemas.openxmlformats.org/drawingml/2006/main">
            <a:solidFill>
              <a:srgbClr val="EEE6EE"/>
            </a:solidFill>
          </a:ln>
        </p:spPr>
      </p:sp>
      <p:sp>
        <p:nvSpPr>
          <p:cNvPr id="37" name="row-4-0">
            <a:extLst xmlns:a="http://schemas.openxmlformats.org/drawingml/2006/main">
              <a:ext uri="{FF2B5EF4-FFF2-40B4-BE49-F238E27FC236}">
                <a16:creationId xmlns:a16="http://schemas.microsoft.com/office/drawing/2014/main" id="{664A36EA-EF7F-485B-A27C-F7620AA8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5981700"/>
            <a:ext cx="1712391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TF-IDF Ordinal</a:t>
            </a:r>
          </a:p>
        </p:txBody>
      </p:sp>
      <p:sp>
        <p:nvSpPr>
          <p:cNvPr id="38" name="row-4-1">
            <a:extLst xmlns:a="http://schemas.openxmlformats.org/drawingml/2006/main">
              <a:ext uri="{FF2B5EF4-FFF2-40B4-BE49-F238E27FC236}">
                <a16:creationId xmlns:a16="http://schemas.microsoft.com/office/drawing/2014/main" id="{DD98B5D5-A50E-458D-8C01-E1741812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13" y="5981700"/>
            <a:ext cx="10023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65.00%</a:t>
            </a:r>
          </a:p>
        </p:txBody>
      </p:sp>
      <p:sp>
        <p:nvSpPr>
          <p:cNvPr id="39" name="row-4-2">
            <a:extLst xmlns:a="http://schemas.openxmlformats.org/drawingml/2006/main">
              <a:ext uri="{FF2B5EF4-FFF2-40B4-BE49-F238E27FC236}">
                <a16:creationId xmlns:a16="http://schemas.microsoft.com/office/drawing/2014/main" id="{C784E496-0F4C-452C-8FDE-41C99107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84" y="5981700"/>
            <a:ext cx="1211203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63.79% / 61.67%</a:t>
            </a:r>
          </a:p>
        </p:txBody>
      </p:sp>
      <p:sp>
        <p:nvSpPr>
          <p:cNvPr id="40" name="row-4-3">
            <a:extLst xmlns:a="http://schemas.openxmlformats.org/drawingml/2006/main">
              <a:ext uri="{FF2B5EF4-FFF2-40B4-BE49-F238E27FC236}">
                <a16:creationId xmlns:a16="http://schemas.microsoft.com/office/drawing/2014/main" id="{6CD5CE29-1914-4E46-BD5D-A6B40BCB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84" y="5981700"/>
            <a:ext cx="1545328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Challenger</a:t>
            </a:r>
          </a:p>
        </p:txBody>
      </p:sp>
      <p:sp>
        <p:nvSpPr>
          <p:cNvPr id="41" name="row-4-4">
            <a:extLst xmlns:a="http://schemas.openxmlformats.org/drawingml/2006/main">
              <a:ext uri="{FF2B5EF4-FFF2-40B4-BE49-F238E27FC236}">
                <a16:creationId xmlns:a16="http://schemas.microsoft.com/office/drawing/2014/main" id="{3AAB44B8-6419-431A-B394-327B3757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609" y="5981700"/>
            <a:ext cx="3758906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446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Ordinal local alternative</a:t>
            </a:r>
          </a:p>
        </p:txBody>
      </p:sp>
      <p:sp>
        <p:nvSpPr>
          <p:cNvPr id="42" name="decision">
            <a:extLst xmlns:a="http://schemas.openxmlformats.org/drawingml/2006/main">
              <a:ext uri="{FF2B5EF4-FFF2-40B4-BE49-F238E27FC236}">
                <a16:creationId xmlns:a16="http://schemas.microsoft.com/office/drawing/2014/main" id="{01206751-87B5-44F2-99D6-339F01FF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88" y="6934200"/>
            <a:ext cx="9522563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3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BEST OVERALL: LLM FEW-SHOT   •   DEPLOYABLE: TF-IDF   •   BEST END-TO-END TRANSFORMER: ROBBERT IMPROVED</a:t>
            </a:r>
          </a:p>
        </p:txBody>
      </p:sp>
      <p:sp>
        <p:nvSpPr>
          <p:cNvPr id="43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E40A408-CCC1-46BC-B1BE-1C419710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7210425"/>
            <a:ext cx="9689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>
                <a:solidFill>
                  <a:srgbClr val="7A6E7B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7A6E7B"/>
                </a:solidFill>
                <a:latin typeface="Arial"/>
                <a:ea typeface="Arial"/>
                <a:cs typeface="Arial"/>
              </a:rPr>
              <a:t>Lower than ~90% literature benchmarks: smaller, imbalanced 3-class data with an ambiguous Average label—scored by Macro-F1, not balanced binary accuracy.</a:t>
            </a:r>
          </a:p>
        </p:txBody>
      </p:sp>
      <p:graphicFrame>
        <p:nvGraphicFramePr>
          <p:cNvPr id="103" name="Chart"/>
          <p:cNvGraphicFramePr/>
          <p:nvPr/>
        </p:nvGraphicFramePr>
        <p:xfrm>
          <a:off xmlns:a="http://schemas.openxmlformats.org/drawingml/2006/main" x="375891" y="1790700"/>
          <a:ext xmlns:a="http://schemas.openxmlformats.org/drawingml/2006/main" cx="9689625" cy="2171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a19b42a3e14660"/>
          </a:graphicData>
        </a:graphic>
      </p:graphicFrame>
      <p:sp>
        <p:nvSpPr>
          <p:cNvPr id="47" name="row-rule-5">
            <a:extLst xmlns:a="http://schemas.openxmlformats.org/drawingml/2006/main">
              <a:ext uri="{FF2B5EF4-FFF2-40B4-BE49-F238E27FC236}">
                <a16:creationId xmlns:a16="http://schemas.microsoft.com/office/drawing/2014/main" id="{E3CA7F88-90BD-4381-BF1F-159F8281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6234113"/>
            <a:ext cx="968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EE"/>
          </a:solidFill>
          <a:ln xmlns:a="http://schemas.openxmlformats.org/drawingml/2006/main" w="0">
            <a:solidFill>
              <a:srgbClr val="EEE6EE"/>
            </a:solidFill>
            <a:prstDash val="solid"/>
          </a:ln>
        </p:spPr>
      </p:sp>
      <p:sp>
        <p:nvSpPr>
          <p:cNvPr id="48" name="row-5-0">
            <a:extLst xmlns:a="http://schemas.openxmlformats.org/drawingml/2006/main">
              <a:ext uri="{FF2B5EF4-FFF2-40B4-BE49-F238E27FC236}">
                <a16:creationId xmlns:a16="http://schemas.microsoft.com/office/drawing/2014/main" id="{36A12E58-8A96-4FFC-BC61-C20C0FC2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6262688"/>
            <a:ext cx="1712391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3002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TF-IDF Logistic</a:t>
            </a:r>
          </a:p>
        </p:txBody>
      </p:sp>
      <p:sp>
        <p:nvSpPr>
          <p:cNvPr id="49" name="row-5-1">
            <a:extLst xmlns:a="http://schemas.openxmlformats.org/drawingml/2006/main">
              <a:ext uri="{FF2B5EF4-FFF2-40B4-BE49-F238E27FC236}">
                <a16:creationId xmlns:a16="http://schemas.microsoft.com/office/drawing/2014/main" id="{D2939158-4934-4EA8-82F4-28774DCB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13" y="6262688"/>
            <a:ext cx="100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D2F3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65.31%</a:t>
            </a:r>
          </a:p>
        </p:txBody>
      </p:sp>
      <p:sp>
        <p:nvSpPr>
          <p:cNvPr id="50" name="row-5-2">
            <a:extLst xmlns:a="http://schemas.openxmlformats.org/drawingml/2006/main">
              <a:ext uri="{FF2B5EF4-FFF2-40B4-BE49-F238E27FC236}">
                <a16:creationId xmlns:a16="http://schemas.microsoft.com/office/drawing/2014/main" id="{39E75059-E01C-4EC7-A020-7817222E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84" y="6262688"/>
            <a:ext cx="121120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D2F3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72.09% / 51.67%</a:t>
            </a:r>
          </a:p>
        </p:txBody>
      </p:sp>
      <p:sp>
        <p:nvSpPr>
          <p:cNvPr id="51" name="row-5-3">
            <a:extLst xmlns:a="http://schemas.openxmlformats.org/drawingml/2006/main">
              <a:ext uri="{FF2B5EF4-FFF2-40B4-BE49-F238E27FC236}">
                <a16:creationId xmlns:a16="http://schemas.microsoft.com/office/drawing/2014/main" id="{F7FB2222-4BE5-4B68-85B2-18FB22C8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84" y="6262688"/>
            <a:ext cx="1545328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D2F3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Production benchmark</a:t>
            </a:r>
          </a:p>
        </p:txBody>
      </p:sp>
      <p:sp>
        <p:nvSpPr>
          <p:cNvPr id="52" name="row-5-4">
            <a:extLst xmlns:a="http://schemas.openxmlformats.org/drawingml/2006/main">
              <a:ext uri="{FF2B5EF4-FFF2-40B4-BE49-F238E27FC236}">
                <a16:creationId xmlns:a16="http://schemas.microsoft.com/office/drawing/2014/main" id="{83D66058-FA4F-48A4-8086-4C033993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609" y="6262688"/>
            <a:ext cx="3758906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D2F3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Deployed CPU champion</a:t>
            </a:r>
          </a:p>
        </p:txBody>
      </p:sp>
      <p:sp>
        <p:nvSpPr>
          <p:cNvPr id="53" name="row-rule-6">
            <a:extLst xmlns:a="http://schemas.openxmlformats.org/drawingml/2006/main">
              <a:ext uri="{FF2B5EF4-FFF2-40B4-BE49-F238E27FC236}">
                <a16:creationId xmlns:a16="http://schemas.microsoft.com/office/drawing/2014/main" id="{BBCB1EF1-754E-4F9F-B6EB-45C19410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6515100"/>
            <a:ext cx="968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EE"/>
          </a:solidFill>
          <a:ln xmlns:a="http://schemas.openxmlformats.org/drawingml/2006/main" w="0">
            <a:solidFill>
              <a:srgbClr val="EEE6EE"/>
            </a:solidFill>
            <a:prstDash val="solid"/>
          </a:ln>
        </p:spPr>
      </p:sp>
      <p:sp>
        <p:nvSpPr>
          <p:cNvPr id="54" name="row-6-0">
            <a:extLst xmlns:a="http://schemas.openxmlformats.org/drawingml/2006/main">
              <a:ext uri="{FF2B5EF4-FFF2-40B4-BE49-F238E27FC236}">
                <a16:creationId xmlns:a16="http://schemas.microsoft.com/office/drawing/2014/main" id="{D18ED00D-E3B6-40A4-B146-ECBAF5EB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" y="6543675"/>
            <a:ext cx="1712391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3002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0024"/>
                </a:solidFill>
                <a:latin typeface="Arial"/>
                <a:ea typeface="Arial"/>
                <a:cs typeface="Arial"/>
              </a:rPr>
              <a:t>RobBERT v2 Logistic</a:t>
            </a:r>
          </a:p>
        </p:txBody>
      </p:sp>
      <p:sp>
        <p:nvSpPr>
          <p:cNvPr id="55" name="row-6-1">
            <a:extLst xmlns:a="http://schemas.openxmlformats.org/drawingml/2006/main">
              <a:ext uri="{FF2B5EF4-FFF2-40B4-BE49-F238E27FC236}">
                <a16:creationId xmlns:a16="http://schemas.microsoft.com/office/drawing/2014/main" id="{E065C1C2-FA47-460F-BD81-6E95DE5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813" y="6543675"/>
            <a:ext cx="100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D2F3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63.54%</a:t>
            </a:r>
          </a:p>
        </p:txBody>
      </p:sp>
      <p:sp>
        <p:nvSpPr>
          <p:cNvPr id="56" name="row-6-2">
            <a:extLst xmlns:a="http://schemas.openxmlformats.org/drawingml/2006/main">
              <a:ext uri="{FF2B5EF4-FFF2-40B4-BE49-F238E27FC236}">
                <a16:creationId xmlns:a16="http://schemas.microsoft.com/office/drawing/2014/main" id="{86A477AF-A09F-474C-B61A-8448F8BE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484" y="6543675"/>
            <a:ext cx="1211203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D2F3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58.73% / 61.67%</a:t>
            </a:r>
          </a:p>
        </p:txBody>
      </p:sp>
      <p:sp>
        <p:nvSpPr>
          <p:cNvPr id="57" name="row-6-3">
            <a:extLst xmlns:a="http://schemas.openxmlformats.org/drawingml/2006/main">
              <a:ext uri="{FF2B5EF4-FFF2-40B4-BE49-F238E27FC236}">
                <a16:creationId xmlns:a16="http://schemas.microsoft.com/office/drawing/2014/main" id="{5DA7EDCB-05E6-4632-B45B-D6B365C0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84" y="6543675"/>
            <a:ext cx="1545328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3D2F3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Test evidence</a:t>
            </a:r>
          </a:p>
        </p:txBody>
      </p:sp>
      <p:sp>
        <p:nvSpPr>
          <p:cNvPr id="58" name="row-6-4">
            <a:extLst xmlns:a="http://schemas.openxmlformats.org/drawingml/2006/main">
              <a:ext uri="{FF2B5EF4-FFF2-40B4-BE49-F238E27FC236}">
                <a16:creationId xmlns:a16="http://schemas.microsoft.com/office/drawing/2014/main" id="{4C8DFE4A-1DFB-4262-AD39-C69F3480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609" y="6543675"/>
            <a:ext cx="3758906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D2F3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3D2F3E"/>
                </a:solidFill>
                <a:latin typeface="Arial"/>
                <a:ea typeface="Arial"/>
                <a:cs typeface="Arial"/>
              </a:rPr>
              <a:t>Initial end-to-end baseline</a:t>
            </a:r>
          </a:p>
        </p:txBody>
      </p:sp>
    </p:spTree>
    <p:extLst>
      <p:ext uri="{BB962C8B-B14F-4D97-AF65-F5344CB8AC3E}">
        <p14:creationId xmlns:p14="http://schemas.microsoft.com/office/powerpoint/2010/main" val="1412081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2026-07-21T09:52:51.5040000Z</dcterms:created>
  <dcterms:modified xsi:type="dcterms:W3CDTF">2026-07-21T09:52:51.5050000Z</dcterms:modified>
</coreProperties>
</file>